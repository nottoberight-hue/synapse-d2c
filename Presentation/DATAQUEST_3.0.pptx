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F51ECC6-2D4B-BA92-B282-4E3DA8165BC6}" name="RISHIT BISOYI" initials="RB" userId="S::rishit.bisoyi2025@vitstudent.ac.in::cd4f7ff7-75e1-49f2-a276-375c6c14782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B688531-0810-49A5-A43A-AC37517BACE6}" authorId="{4F51ECC6-2D4B-BA92-B282-4E3DA8165BC6}" created="2026-10-06T20:26:11.604">
    <pc:sldMkLst xmlns:pc="http://schemas.microsoft.com/office/powerpoint/2013/main/command">
      <pc:docMk/>
      <pc:sldMk cId="0" sldId="256"/>
    </pc:sldMkLst>
    <p188:txBody>
      <a:bodyPr/>
      <a:lstStyle/>
      <a:p>
        <a:r>
          <a:rPr lang="en-US"/>
          <a:t>Go to File-&gt;Create a copy-&gt;Download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0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2194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2596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2999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9601200" y="640080"/>
            <a:ext cx="109728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6005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65733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rc 19"/>
          <p:cNvSpPr/>
          <p:nvPr/>
        </p:nvSpPr>
        <p:spPr>
          <a:xfrm>
            <a:off x="1463040" y="5303520"/>
            <a:ext cx="1005840" cy="73152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421892" y="56281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427732" y="526237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Isosceles Triangle 22"/>
          <p:cNvSpPr/>
          <p:nvPr/>
        </p:nvSpPr>
        <p:spPr>
          <a:xfrm rot="10800000">
            <a:off x="1645920" y="758952"/>
            <a:ext cx="219456" cy="256032"/>
          </a:xfrm>
          <a:prstGeom prst="triangle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673352" y="685800"/>
            <a:ext cx="164592" cy="91440"/>
          </a:xfrm>
          <a:prstGeom prst="roundRect">
            <a:avLst>
              <a:gd name="adj" fmla="val 20000"/>
            </a:avLst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732788" y="822960"/>
            <a:ext cx="45720" cy="45720"/>
          </a:xfrm>
          <a:prstGeom prst="ellipse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751076" y="868680"/>
            <a:ext cx="19050" cy="13716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45920" y="1078992"/>
            <a:ext cx="9144000" cy="1554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5600" b="1">
                <a:solidFill>
                  <a:srgbClr val="353334"/>
                </a:solidFill>
                <a:latin typeface="Fjalla One"/>
              </a:defRPr>
            </a:pPr>
            <a:r>
              <a:t>DATAQUEST 3.0</a:t>
            </a:r>
          </a:p>
          <a:p>
            <a:pPr>
              <a:spcBef>
                <a:spcPts val="200"/>
              </a:spcBef>
              <a:defRPr sz="3200" b="1">
                <a:solidFill>
                  <a:srgbClr val="FD1485"/>
                </a:solidFill>
                <a:latin typeface="Fjalla One"/>
              </a:defRPr>
            </a:pPr>
            <a:r>
              <a:t>ROUND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0" y="2578608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645920" y="2670048"/>
            <a:ext cx="9418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353334"/>
                </a:solidFill>
                <a:latin typeface="Mulish"/>
              </a:defRPr>
            </a:pPr>
            <a:r>
              <a:t>OFFICIAL PARTICIPANT PPT TEMPLATE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0" y="3246120"/>
            <a:ext cx="4572000" cy="2926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965960" y="31181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PROJECT DETAILS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520440"/>
            <a:ext cx="4023360" cy="182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dirty="0"/>
              <a:t>PROJECT TITLE</a:t>
            </a:r>
          </a:p>
          <a:p>
            <a:pPr>
              <a:spcBef>
                <a:spcPts val="200"/>
              </a:spcBef>
              <a:defRPr sz="1600" b="1">
                <a:solidFill>
                  <a:srgbClr val="FD1485"/>
                </a:solidFill>
                <a:latin typeface="Fjalla One"/>
              </a:defRPr>
            </a:pPr>
            <a:r>
              <a:rPr lang="en-US" dirty="0"/>
              <a:t>Synapse – D2C</a:t>
            </a:r>
            <a:endParaRPr dirty="0"/>
          </a:p>
          <a:p>
            <a:pPr>
              <a:spcBef>
                <a:spcPts val="1000"/>
              </a:spcBef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dirty="0"/>
              <a:t>ONE-LINE PITCH</a:t>
            </a:r>
          </a:p>
          <a:p>
            <a:pPr>
              <a:spcBef>
                <a:spcPts val="200"/>
              </a:spcBef>
              <a:defRPr sz="1050">
                <a:solidFill>
                  <a:srgbClr val="3C3C41"/>
                </a:solidFill>
                <a:latin typeface="Mulish"/>
              </a:defRPr>
            </a:pPr>
            <a:r>
              <a:rPr lang="en-US" dirty="0"/>
              <a:t>Autonomous Multi-Channel Advertising Intelligence &amp;  Closed-Loop Decision Engine</a:t>
            </a:r>
            <a:endParaRPr dirty="0"/>
          </a:p>
          <a:p>
            <a:pPr>
              <a:spcBef>
                <a:spcPts val="1000"/>
              </a:spcBef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dirty="0"/>
              <a:t>TRACK</a:t>
            </a:r>
          </a:p>
          <a:p>
            <a:pPr>
              <a:spcBef>
                <a:spcPts val="200"/>
              </a:spcBef>
              <a:defRPr sz="1050" b="1">
                <a:solidFill>
                  <a:srgbClr val="079ED2"/>
                </a:solidFill>
                <a:latin typeface="Mulish"/>
              </a:defRPr>
            </a:pPr>
            <a:r>
              <a:rPr lang="en-US" dirty="0"/>
              <a:t>Next-Generation Autonomous D2C Advertising Intelligence &amp; Decision Engine</a:t>
            </a:r>
            <a:endParaRPr dirty="0"/>
          </a:p>
        </p:txBody>
      </p:sp>
      <p:sp>
        <p:nvSpPr>
          <p:cNvPr id="33" name="Rounded Rectangle 32"/>
          <p:cNvSpPr/>
          <p:nvPr/>
        </p:nvSpPr>
        <p:spPr>
          <a:xfrm>
            <a:off x="6492240" y="3246120"/>
            <a:ext cx="4572000" cy="2926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812280" y="31181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53334"/>
                </a:solidFill>
                <a:latin typeface="Mulish"/>
              </a:defRPr>
            </a:pPr>
            <a:r>
              <a:t>TEAM &amp; MEMBERS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59" y="3520440"/>
            <a:ext cx="4275201" cy="2328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dirty="0"/>
              <a:t>TEAM</a:t>
            </a:r>
          </a:p>
          <a:p>
            <a:pPr>
              <a:spcBef>
                <a:spcPts val="200"/>
              </a:spcBef>
              <a:defRPr sz="1600" b="1">
                <a:solidFill>
                  <a:srgbClr val="353334"/>
                </a:solidFill>
                <a:latin typeface="Fjalla One"/>
              </a:defRPr>
            </a:pPr>
            <a:r>
              <a:rPr lang="en-US" dirty="0"/>
              <a:t>Data Defenders</a:t>
            </a:r>
            <a:endParaRPr dirty="0"/>
          </a:p>
          <a:p>
            <a:pPr>
              <a:spcBef>
                <a:spcPts val="1000"/>
              </a:spcBef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dirty="0"/>
              <a:t>PARTICIPANTS</a:t>
            </a:r>
          </a:p>
          <a:p>
            <a:pPr>
              <a:spcBef>
                <a:spcPts val="200"/>
              </a:spcBef>
              <a:defRPr sz="1050">
                <a:solidFill>
                  <a:srgbClr val="3C3C41"/>
                </a:solidFill>
                <a:latin typeface="Mulish"/>
              </a:defRPr>
            </a:pPr>
            <a:r>
              <a:rPr dirty="0"/>
              <a:t>•  </a:t>
            </a:r>
            <a:r>
              <a:rPr lang="en-US" dirty="0"/>
              <a:t>Salai </a:t>
            </a:r>
            <a:r>
              <a:rPr lang="en-US" dirty="0" err="1"/>
              <a:t>Kamalavasan</a:t>
            </a:r>
            <a:r>
              <a:rPr lang="en-US" dirty="0"/>
              <a:t> S </a:t>
            </a:r>
            <a:r>
              <a:rPr dirty="0"/>
              <a:t>— R</a:t>
            </a:r>
            <a:r>
              <a:rPr lang="en-US" dirty="0"/>
              <a:t>A2411003020943</a:t>
            </a:r>
            <a:endParaRPr dirty="0"/>
          </a:p>
          <a:p>
            <a:pPr>
              <a:spcBef>
                <a:spcPts val="200"/>
              </a:spcBef>
              <a:defRPr sz="1050">
                <a:solidFill>
                  <a:srgbClr val="3C3C41"/>
                </a:solidFill>
                <a:latin typeface="Mulish"/>
              </a:defRPr>
            </a:pPr>
            <a:r>
              <a:rPr dirty="0"/>
              <a:t>•  </a:t>
            </a:r>
            <a:r>
              <a:rPr lang="en-US" dirty="0"/>
              <a:t>C M Pranith </a:t>
            </a:r>
            <a:r>
              <a:rPr dirty="0"/>
              <a:t>— R</a:t>
            </a:r>
            <a:r>
              <a:rPr lang="en-US" dirty="0"/>
              <a:t>A2411003020952 </a:t>
            </a:r>
            <a:endParaRPr dirty="0"/>
          </a:p>
          <a:p>
            <a:pPr>
              <a:spcBef>
                <a:spcPts val="200"/>
              </a:spcBef>
              <a:defRPr sz="1050">
                <a:solidFill>
                  <a:srgbClr val="3C3C41"/>
                </a:solidFill>
                <a:latin typeface="Mulish"/>
              </a:defRPr>
            </a:pPr>
            <a:r>
              <a:rPr dirty="0"/>
              <a:t>•  </a:t>
            </a:r>
            <a:r>
              <a:rPr lang="en-US" dirty="0"/>
              <a:t>Saicharan S</a:t>
            </a:r>
            <a:r>
              <a:rPr dirty="0"/>
              <a:t> —</a:t>
            </a:r>
            <a:r>
              <a:rPr lang="en-US" dirty="0"/>
              <a:t> RA2411003020939</a:t>
            </a:r>
            <a:endParaRPr dirty="0"/>
          </a:p>
          <a:p>
            <a:pPr>
              <a:spcBef>
                <a:spcPts val="200"/>
              </a:spcBef>
              <a:defRPr sz="1050">
                <a:solidFill>
                  <a:srgbClr val="3C3C41"/>
                </a:solidFill>
                <a:latin typeface="Mulish"/>
              </a:defRPr>
            </a:pPr>
            <a:r>
              <a:rPr dirty="0"/>
              <a:t>•  </a:t>
            </a:r>
            <a:r>
              <a:rPr lang="en-US" dirty="0"/>
              <a:t>Abhishek S</a:t>
            </a:r>
            <a:r>
              <a:rPr dirty="0"/>
              <a:t> — R</a:t>
            </a:r>
            <a:r>
              <a:rPr lang="en-US" dirty="0"/>
              <a:t>A2411003020934</a:t>
            </a:r>
          </a:p>
          <a:p>
            <a:pPr>
              <a:spcBef>
                <a:spcPts val="200"/>
              </a:spcBef>
              <a:defRPr sz="1050">
                <a:solidFill>
                  <a:srgbClr val="3C3C41"/>
                </a:solidFill>
                <a:latin typeface="Mulish"/>
              </a:defRPr>
            </a:pPr>
            <a:r>
              <a:rPr lang="en-IN" dirty="0"/>
              <a:t>•  Harini M — RA2411003020928</a:t>
            </a:r>
          </a:p>
          <a:p>
            <a:pPr>
              <a:spcBef>
                <a:spcPts val="200"/>
              </a:spcBef>
              <a:defRPr sz="1050">
                <a:solidFill>
                  <a:srgbClr val="3C3C41"/>
                </a:solidFill>
                <a:latin typeface="Mulish"/>
              </a:defRPr>
            </a:pPr>
            <a:r>
              <a:rPr lang="en-IN" dirty="0"/>
              <a:t>•  </a:t>
            </a:r>
            <a:r>
              <a:rPr lang="en-IN" dirty="0" err="1"/>
              <a:t>Aghamarsh</a:t>
            </a:r>
            <a:r>
              <a:rPr lang="en-IN" dirty="0"/>
              <a:t> K — 23MID0278</a:t>
            </a:r>
          </a:p>
          <a:p>
            <a:pPr>
              <a:spcBef>
                <a:spcPts val="200"/>
              </a:spcBef>
              <a:defRPr sz="1050">
                <a:solidFill>
                  <a:srgbClr val="3C3C41"/>
                </a:solidFill>
                <a:latin typeface="Mulish"/>
              </a:defRPr>
            </a:pPr>
            <a:endParaRPr lang="en-US" dirty="0"/>
          </a:p>
          <a:p>
            <a:pPr>
              <a:spcBef>
                <a:spcPts val="200"/>
              </a:spcBef>
              <a:defRPr sz="1050">
                <a:solidFill>
                  <a:srgbClr val="3C3C41"/>
                </a:solidFill>
                <a:latin typeface="Mulish"/>
              </a:defRPr>
            </a:pPr>
            <a:endParaRPr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38404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53334"/>
                </a:solidFill>
                <a:latin typeface="Mulish"/>
              </a:defRPr>
            </a:pPr>
            <a:r>
              <a:t>DATAQUEST 3.0  ·  ROUND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FD1485"/>
                </a:solidFill>
                <a:latin typeface="Fjalla One"/>
              </a:rPr>
              <a:t>02  </a:t>
            </a:r>
            <a:r>
              <a:rPr sz="3200" b="1">
                <a:solidFill>
                  <a:srgbClr val="353334"/>
                </a:solidFill>
                <a:latin typeface="Fjalla One"/>
              </a:rPr>
              <a:t>Problem Definition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E6E73"/>
                </a:solidFill>
                <a:latin typeface="Mulish"/>
              </a:defRPr>
            </a:pPr>
            <a:r>
              <a:t>Who is impacted · Today's workarounds · Why current methods fail · Concrete proof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205740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965960" y="19293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01 · AUDIENCE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313432"/>
            <a:ext cx="4023360" cy="167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53334"/>
                </a:solidFill>
                <a:latin typeface="Fjalla One"/>
              </a:defRPr>
            </a:pPr>
            <a:r>
              <a:rPr dirty="0"/>
              <a:t>WHO &amp; HOW OFTEN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b="1" dirty="0"/>
              <a:t>Target Segment: </a:t>
            </a:r>
            <a:r>
              <a:rPr lang="en-US" dirty="0"/>
              <a:t>Direct-to-Consumer (D2C) brand operators, performance growth leads, and e-commerce marketing managers managing multi-channel spend (Meta, Google, Amazon, TikTok).   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b="1" dirty="0"/>
              <a:t>Scale &amp; Complexity: </a:t>
            </a:r>
            <a:r>
              <a:rPr lang="en-US" dirty="0"/>
              <a:t>Brands running campaigns across hundreds of SKUs with dynamic pricing and fluctuating warehouse stock.   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b="1" dirty="0"/>
              <a:t>Pain Frequency</a:t>
            </a:r>
            <a:r>
              <a:rPr lang="en-US" dirty="0"/>
              <a:t>: Continuous and daily. Ad budgets burn 24/7 while inventory levels and conversion efficiencies shift constantly across disconnected platforms</a:t>
            </a:r>
            <a:endParaRPr dirty="0"/>
          </a:p>
        </p:txBody>
      </p:sp>
      <p:sp>
        <p:nvSpPr>
          <p:cNvPr id="27" name="Rounded Rectangle 26"/>
          <p:cNvSpPr/>
          <p:nvPr/>
        </p:nvSpPr>
        <p:spPr>
          <a:xfrm>
            <a:off x="6492240" y="205740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812280" y="19293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53334"/>
                </a:solidFill>
                <a:latin typeface="Mulish"/>
              </a:defRPr>
            </a:pPr>
            <a:r>
              <a:t>02 · STATUS QUO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313432"/>
            <a:ext cx="402336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53334"/>
                </a:solidFill>
                <a:latin typeface="Fjalla One"/>
              </a:defRPr>
            </a:pPr>
            <a:r>
              <a:rPr dirty="0"/>
              <a:t>CURRENT APPROACH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b="1" dirty="0"/>
              <a:t>Passive Visualization Tools: </a:t>
            </a:r>
            <a:r>
              <a:rPr lang="en-US" dirty="0"/>
              <a:t>Teams rely on retrofitted BI dashboards and reporting tools (Looker Studio, Shopify Analytics, </a:t>
            </a:r>
            <a:r>
              <a:rPr lang="en-US" dirty="0" err="1"/>
              <a:t>Supermetrics</a:t>
            </a:r>
            <a:r>
              <a:rPr lang="en-US" dirty="0"/>
              <a:t>) that merely display past performance.   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b="1" dirty="0"/>
              <a:t>Manual Data Stitching: </a:t>
            </a:r>
            <a:r>
              <a:rPr lang="en-US" dirty="0"/>
              <a:t>Marketers spend hours manually cross-referencing platform ad accounts against ERP/WMS spreadsheets and margin sheets.   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b="1" dirty="0"/>
              <a:t>Intuition-Based Adjustments: </a:t>
            </a:r>
            <a:r>
              <a:rPr lang="en-US" dirty="0"/>
              <a:t>Campaign scaling and budget reallocation decisions are driven by gut feel and top-line ROAS rather than predictive unit economics.</a:t>
            </a:r>
            <a:endParaRPr dirty="0"/>
          </a:p>
        </p:txBody>
      </p:sp>
      <p:sp>
        <p:nvSpPr>
          <p:cNvPr id="30" name="Rounded Rectangle 29"/>
          <p:cNvSpPr/>
          <p:nvPr/>
        </p:nvSpPr>
        <p:spPr>
          <a:xfrm>
            <a:off x="1645920" y="438912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965960" y="42611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03 · DEFICIENCY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645152"/>
            <a:ext cx="4023360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53334"/>
                </a:solidFill>
                <a:latin typeface="Fjalla One"/>
              </a:defRPr>
            </a:pPr>
            <a:r>
              <a:rPr dirty="0"/>
              <a:t>WHY IT FALLS SHORT</a:t>
            </a:r>
            <a:endParaRPr lang="en-IN" dirty="0"/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b="1" dirty="0"/>
              <a:t>Siloed &amp; Lagging Diagnostics: </a:t>
            </a:r>
            <a:r>
              <a:rPr lang="en-US" dirty="0"/>
              <a:t>Manual cross-channel correlation delays root-cause detection until budgets are already wasted.   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b="1" dirty="0"/>
              <a:t>Blind to Unit Economics: </a:t>
            </a:r>
            <a:r>
              <a:rPr lang="en-US" dirty="0"/>
              <a:t>Optimizes for vanity ROAS while ignoring warehouse stockouts and SKU gross margins.   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b="1" dirty="0"/>
              <a:t>Zero Decision Automation: </a:t>
            </a:r>
            <a:r>
              <a:rPr lang="en-US" dirty="0"/>
              <a:t>Passive dashboards present descriptive historical charts instead of executable, closed-loop actions.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4389120"/>
            <a:ext cx="457200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812280" y="42611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353334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04 ·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645152"/>
            <a:ext cx="402336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53334"/>
                </a:solidFill>
                <a:latin typeface="Fjalla One"/>
              </a:defRPr>
            </a:pPr>
            <a:r>
              <a:rPr dirty="0"/>
              <a:t>EVIDENCE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b="1" dirty="0"/>
              <a:t>Wasted Spend on Stockouts: </a:t>
            </a:r>
            <a:r>
              <a:rPr lang="en-US" dirty="0"/>
              <a:t>Up to 15–20% of D2C ad spend is routinely wasted driving traffic to out-of-stock SKUs, low-margin products, or saturated creative audiences.   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b="1" dirty="0"/>
              <a:t>Root-Cause Latency: </a:t>
            </a:r>
            <a:r>
              <a:rPr lang="en-US" dirty="0"/>
              <a:t>Identifying why an advertising campaign's efficiency suddenly spiked or crashed requires hours of tedious cross-channel manual correlation.   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b="1" dirty="0"/>
              <a:t>Margin Compression Bottleneck: </a:t>
            </a:r>
            <a:r>
              <a:rPr lang="en-US" dirty="0"/>
              <a:t>Optimizing purely for ad ROAS rather than net contribution profit compresses operating margins and causes preventable stockouts on core revenue drivers.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38404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53334"/>
                </a:solidFill>
                <a:latin typeface="Mulish"/>
              </a:defRPr>
            </a:pPr>
            <a:r>
              <a:t>DATAQUEST 3.0  ·  ROUND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FD1485"/>
                </a:solidFill>
                <a:latin typeface="Fjalla One"/>
              </a:rPr>
              <a:t>03  </a:t>
            </a:r>
            <a:r>
              <a:rPr sz="3200" b="1">
                <a:solidFill>
                  <a:srgbClr val="353334"/>
                </a:solidFill>
                <a:latin typeface="Fjalla One"/>
              </a:rPr>
              <a:t>Proposed Solution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45920" y="1517904"/>
            <a:ext cx="9418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E6E73"/>
                </a:solidFill>
                <a:latin typeface="Mulish"/>
              </a:defRPr>
            </a:pPr>
            <a:r>
              <a:rPr dirty="0"/>
              <a:t>System identity · End-to-end user workflow · Competitive advantages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2011680"/>
            <a:ext cx="9418320" cy="1188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965960" y="188366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SOLUTION 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194560"/>
            <a:ext cx="8869680" cy="684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53334"/>
                </a:solidFill>
                <a:latin typeface="Fjalla One"/>
              </a:defRPr>
            </a:pPr>
            <a:r>
              <a:rPr lang="en-US" dirty="0"/>
              <a:t>SYNAPSE – D2C</a:t>
            </a:r>
            <a:endParaRPr dirty="0"/>
          </a:p>
          <a:p>
            <a:pPr>
              <a:spcBef>
                <a:spcPts val="300"/>
              </a:spcBef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dirty="0"/>
              <a:t>Synapse-D2C is an AI-native advertising intelligence and autonomous decision engine that reconciles multi-channel ad spend with warehouse inventory and product margins. It isolates root causes of performance shifts and uses constrained convex optimization to autonomously execute profit-maximizing budget reallocations.</a:t>
            </a:r>
            <a:endParaRPr dirty="0"/>
          </a:p>
        </p:txBody>
      </p:sp>
      <p:sp>
        <p:nvSpPr>
          <p:cNvPr id="27" name="Rounded Rectangle 26"/>
          <p:cNvSpPr/>
          <p:nvPr/>
        </p:nvSpPr>
        <p:spPr>
          <a:xfrm>
            <a:off x="1645920" y="3383280"/>
            <a:ext cx="9418320" cy="12801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965960" y="325526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USER 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20240" y="3822192"/>
            <a:ext cx="25603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000" b="1">
                <a:solidFill>
                  <a:srgbClr val="353334"/>
                </a:solidFill>
                <a:latin typeface="Fjalla One"/>
              </a:defRPr>
            </a:pPr>
            <a:r>
              <a:rPr dirty="0"/>
              <a:t>1. USER INPUT</a:t>
            </a:r>
          </a:p>
          <a:p>
            <a:pPr algn="ctr">
              <a:defRPr sz="850">
                <a:solidFill>
                  <a:srgbClr val="3C3C41"/>
                </a:solidFill>
                <a:latin typeface="Mulish"/>
              </a:defRPr>
            </a:pPr>
            <a:r>
              <a:rPr lang="en-US" dirty="0"/>
              <a:t>Ingestion of multi-channel ad spend, conversion data, inventory levels, and SKU gross margins.</a:t>
            </a: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4590288" y="3931920"/>
            <a:ext cx="32918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800" b="1">
                <a:solidFill>
                  <a:srgbClr val="353334"/>
                </a:solidFill>
                <a:latin typeface="Mulish"/>
              </a:defRPr>
            </a:pPr>
            <a:r>
              <a:t>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0" y="3822192"/>
            <a:ext cx="25603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B9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000" b="1">
                <a:solidFill>
                  <a:srgbClr val="353334"/>
                </a:solidFill>
                <a:latin typeface="Fjalla One"/>
              </a:defRPr>
            </a:pPr>
            <a:r>
              <a:rPr dirty="0"/>
              <a:t>2. PROCESSING</a:t>
            </a:r>
          </a:p>
          <a:p>
            <a:pPr algn="ctr">
              <a:defRPr sz="850">
                <a:solidFill>
                  <a:srgbClr val="3C3C41"/>
                </a:solidFill>
                <a:latin typeface="Mulish"/>
              </a:defRPr>
            </a:pPr>
            <a:r>
              <a:rPr lang="en-US" dirty="0"/>
              <a:t> Causal anomaly detection to isolate root causes, followed by constrained convex optimization for net margin maximization.</a:t>
            </a:r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7699248" y="3931920"/>
            <a:ext cx="32918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800" b="1">
                <a:solidFill>
                  <a:srgbClr val="353334"/>
                </a:solidFill>
                <a:latin typeface="Mulish"/>
              </a:defRPr>
            </a:pPr>
            <a:r>
              <a:t>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3822192"/>
            <a:ext cx="25603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000" b="1">
                <a:solidFill>
                  <a:srgbClr val="353334"/>
                </a:solidFill>
                <a:latin typeface="Fjalla One"/>
              </a:defRPr>
            </a:pPr>
            <a:r>
              <a:rPr dirty="0"/>
              <a:t>3. OUTPUT</a:t>
            </a:r>
          </a:p>
          <a:p>
            <a:pPr algn="ctr">
              <a:defRPr sz="850">
                <a:solidFill>
                  <a:srgbClr val="3C3C41"/>
                </a:solidFill>
                <a:latin typeface="Mulish"/>
              </a:defRPr>
            </a:pPr>
            <a:r>
              <a:rPr lang="en-US" dirty="0"/>
              <a:t>Prioritized budget reallocation directives with executive rationales and simulated profit-lift projections.</a:t>
            </a:r>
            <a:endParaRPr dirty="0"/>
          </a:p>
        </p:txBody>
      </p:sp>
      <p:sp>
        <p:nvSpPr>
          <p:cNvPr id="34" name="Rounded Rectangle 33"/>
          <p:cNvSpPr/>
          <p:nvPr/>
        </p:nvSpPr>
        <p:spPr>
          <a:xfrm>
            <a:off x="1645920" y="4846320"/>
            <a:ext cx="4572000" cy="1691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965960" y="47183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53334"/>
                </a:solidFill>
                <a:latin typeface="Mulish"/>
              </a:defRPr>
            </a:pPr>
            <a:r>
              <a:t>ADVANTAGE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5074920"/>
            <a:ext cx="4023360" cy="1469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53334"/>
                </a:solidFill>
                <a:latin typeface="Fjalla One"/>
              </a:defRPr>
            </a:pPr>
            <a:r>
              <a:rPr dirty="0"/>
              <a:t>WHY IT IS BETTER</a:t>
            </a:r>
          </a:p>
          <a:p>
            <a:pPr>
              <a:spcBef>
                <a:spcPts val="300"/>
              </a:spcBef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b="1" dirty="0"/>
              <a:t>Guaranteed Profit Maximization:</a:t>
            </a:r>
            <a:r>
              <a:rPr lang="en-US" dirty="0"/>
              <a:t> Replaces gut-feel spend with mathematical optimization focused on net cash contribution rather than top-line vanity ROAS.   </a:t>
            </a:r>
          </a:p>
          <a:p>
            <a:pPr>
              <a:spcBef>
                <a:spcPts val="300"/>
              </a:spcBef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b="1" dirty="0"/>
              <a:t>Zero Wasted Spend on Stockouts:</a:t>
            </a:r>
            <a:r>
              <a:rPr lang="en-US" dirty="0"/>
              <a:t> Dynamically throttles ad spend when SKU inventory hits critical safety thresholds.   </a:t>
            </a:r>
          </a:p>
          <a:p>
            <a:pPr>
              <a:spcBef>
                <a:spcPts val="300"/>
              </a:spcBef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b="1" dirty="0"/>
              <a:t>Instant Root-Cause Diagnostics:</a:t>
            </a:r>
            <a:r>
              <a:rPr lang="en-US" dirty="0"/>
              <a:t> Reduces manual cross-channel troubleshooting time from hours to milliseconds.</a:t>
            </a:r>
            <a:endParaRPr dirty="0"/>
          </a:p>
        </p:txBody>
      </p:sp>
      <p:sp>
        <p:nvSpPr>
          <p:cNvPr id="37" name="Rounded Rectangle 36"/>
          <p:cNvSpPr/>
          <p:nvPr/>
        </p:nvSpPr>
        <p:spPr>
          <a:xfrm>
            <a:off x="6492240" y="4846320"/>
            <a:ext cx="4572000" cy="1691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812280" y="47183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INNOVATION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5074920"/>
            <a:ext cx="402336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53334"/>
                </a:solidFill>
                <a:latin typeface="Fjalla One"/>
              </a:defRPr>
            </a:pPr>
            <a:r>
              <a:rPr dirty="0"/>
              <a:t>WHAT IS DIFFERENT</a:t>
            </a:r>
          </a:p>
          <a:p>
            <a:pPr>
              <a:spcBef>
                <a:spcPts val="300"/>
              </a:spcBef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b="1" dirty="0"/>
              <a:t>Neuro-Symbolic Architecture:</a:t>
            </a:r>
            <a:r>
              <a:rPr lang="en-US" dirty="0"/>
              <a:t> Replaces hallucination-prone LLM guesswork with deterministic convex optimization (</a:t>
            </a:r>
            <a:r>
              <a:rPr lang="en-US" dirty="0" err="1"/>
              <a:t>scipy.optimize</a:t>
            </a:r>
            <a:r>
              <a:rPr lang="en-US" dirty="0"/>
              <a:t> / SLSQP) paired with an LLM strategic reasoning layer.  </a:t>
            </a:r>
          </a:p>
          <a:p>
            <a:pPr>
              <a:spcBef>
                <a:spcPts val="300"/>
              </a:spcBef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b="1" dirty="0"/>
              <a:t>Counterfactual Closed-Loop Learning:</a:t>
            </a:r>
            <a:r>
              <a:rPr lang="en-US" dirty="0"/>
              <a:t> Continuously evaluates executed actions against a status-quo baseline to validate real profit impact without requiring live ad risk.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2946" y="-29639"/>
            <a:ext cx="12192000" cy="6867319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38404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53334"/>
                </a:solidFill>
                <a:latin typeface="Mulish"/>
              </a:defRPr>
            </a:pPr>
            <a:r>
              <a:t>DATAQUEST 3.0  ·  ROUND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7854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 dirty="0">
                <a:solidFill>
                  <a:srgbClr val="FD1485"/>
                </a:solidFill>
                <a:latin typeface="Fjalla One"/>
              </a:rPr>
              <a:t>04  </a:t>
            </a:r>
            <a:r>
              <a:rPr sz="3200" b="1" dirty="0">
                <a:solidFill>
                  <a:srgbClr val="353334"/>
                </a:solidFill>
                <a:latin typeface="Fjalla One"/>
              </a:rPr>
              <a:t>System Architecture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00200" y="1162880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645920" y="1392243"/>
            <a:ext cx="9546336" cy="31318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965960" y="1264227"/>
            <a:ext cx="1621950" cy="278104"/>
          </a:xfrm>
          <a:prstGeom prst="roundRect">
            <a:avLst>
              <a:gd name="adj" fmla="val 50000"/>
            </a:avLst>
          </a:prstGeom>
          <a:solidFill>
            <a:srgbClr val="353334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SYSTEM DIAGRAM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60017" y="4813808"/>
            <a:ext cx="3003804" cy="18572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057781" y="4685792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53334"/>
                </a:solidFill>
                <a:latin typeface="Mulish"/>
              </a:defRPr>
            </a:pPr>
            <a:r>
              <a:t>TECH 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78381" y="4978285"/>
            <a:ext cx="288544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dirty="0"/>
              <a:t>KEY TECHNICAL DECISION</a:t>
            </a:r>
          </a:p>
          <a:p>
            <a:pPr marL="171450" indent="-171450" algn="just">
              <a:spcBef>
                <a:spcPts val="300"/>
              </a:spcBef>
              <a:buFont typeface="Arial" panose="020B0604020202020204" pitchFamily="34" charset="0"/>
              <a:buChar char="•"/>
              <a:defRPr sz="950">
                <a:solidFill>
                  <a:srgbClr val="3C3C41"/>
                </a:solidFill>
                <a:latin typeface="Mulish"/>
              </a:defRPr>
            </a:pPr>
            <a:r>
              <a:rPr lang="en-IN" sz="1100" b="1" dirty="0"/>
              <a:t>Neuro-Symbolic Decoupling:</a:t>
            </a:r>
            <a:r>
              <a:rPr lang="en-IN" sz="1100" dirty="0"/>
              <a:t> Replaced LLM financial guessing with a deterministic convex optimizer (</a:t>
            </a:r>
            <a:r>
              <a:rPr lang="en-IN" sz="1100" dirty="0" err="1"/>
              <a:t>scipy.optimize</a:t>
            </a:r>
            <a:r>
              <a:rPr lang="en-IN" sz="1100" dirty="0"/>
              <a:t> / SLSQP) paired with an LLM strategic reasoning layer.   </a:t>
            </a:r>
            <a:endParaRPr lang="en-IN" sz="1100" b="1" dirty="0"/>
          </a:p>
          <a:p>
            <a:pPr marL="171450" indent="-171450" algn="just">
              <a:spcBef>
                <a:spcPts val="300"/>
              </a:spcBef>
              <a:buFont typeface="Arial" panose="020B0604020202020204" pitchFamily="34" charset="0"/>
              <a:buChar char="•"/>
              <a:defRPr sz="950">
                <a:solidFill>
                  <a:srgbClr val="3C3C41"/>
                </a:solidFill>
                <a:latin typeface="Mulish"/>
              </a:defRPr>
            </a:pPr>
            <a:r>
              <a:rPr lang="en-IN" sz="1100" b="1" dirty="0"/>
              <a:t>Why:</a:t>
            </a:r>
            <a:r>
              <a:rPr lang="en-IN" sz="1100" dirty="0"/>
              <a:t> Guarantees zero hallucinations, enforces strict stockout bounds, and executes in under 50ms.</a:t>
            </a:r>
            <a:endParaRPr sz="1100" dirty="0"/>
          </a:p>
        </p:txBody>
      </p:sp>
      <p:sp>
        <p:nvSpPr>
          <p:cNvPr id="31" name="Rounded Rectangle 30"/>
          <p:cNvSpPr/>
          <p:nvPr/>
        </p:nvSpPr>
        <p:spPr>
          <a:xfrm>
            <a:off x="4782185" y="4813808"/>
            <a:ext cx="3113913" cy="18572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242369" y="4685792"/>
            <a:ext cx="164137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TECH 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6993" y="4943133"/>
            <a:ext cx="289749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dirty="0"/>
              <a:t>HARDEST PART</a:t>
            </a:r>
          </a:p>
          <a:p>
            <a:pPr marL="171450" indent="-171450" algn="just">
              <a:spcBef>
                <a:spcPts val="300"/>
              </a:spcBef>
              <a:buFont typeface="Arial" panose="020B0604020202020204" pitchFamily="34" charset="0"/>
              <a:buChar char="•"/>
              <a:defRPr sz="950">
                <a:solidFill>
                  <a:srgbClr val="3C3C41"/>
                </a:solidFill>
                <a:latin typeface="Mulish"/>
              </a:defRPr>
            </a:pPr>
            <a:r>
              <a:rPr lang="en-US" sz="1100" b="1" dirty="0"/>
              <a:t>Multi-Domain Constraint Reconciliation:</a:t>
            </a:r>
            <a:r>
              <a:rPr lang="en-US" sz="1100" dirty="0"/>
              <a:t> Balancing non-linear ad platform saturation curves against SKU gross margins and dynamic inventory depletion rates.   </a:t>
            </a:r>
          </a:p>
          <a:p>
            <a:pPr marL="171450" indent="-171450" algn="just">
              <a:spcBef>
                <a:spcPts val="300"/>
              </a:spcBef>
              <a:buFont typeface="Arial" panose="020B0604020202020204" pitchFamily="34" charset="0"/>
              <a:buChar char="•"/>
              <a:defRPr sz="950">
                <a:solidFill>
                  <a:srgbClr val="3C3C41"/>
                </a:solidFill>
                <a:latin typeface="Mulish"/>
              </a:defRPr>
            </a:pPr>
            <a:r>
              <a:rPr lang="en-US" sz="1100" b="1" dirty="0"/>
              <a:t>Solution:</a:t>
            </a:r>
            <a:r>
              <a:rPr lang="en-US" sz="1100" dirty="0"/>
              <a:t> Formulated dynamic inequality constraints that automatically throttle ad scaling when days-of-inventory breach safety thresholds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34" name="Rounded Rectangle 33"/>
          <p:cNvSpPr/>
          <p:nvPr/>
        </p:nvSpPr>
        <p:spPr>
          <a:xfrm>
            <a:off x="8026527" y="4834141"/>
            <a:ext cx="3120390" cy="199011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241474" y="4685792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TECH 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9120" y="4962211"/>
            <a:ext cx="2842641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sz="1100" dirty="0"/>
              <a:t>VALIDATION</a:t>
            </a:r>
          </a:p>
          <a:p>
            <a:pPr marL="171450" indent="-171450" algn="just">
              <a:spcBef>
                <a:spcPts val="300"/>
              </a:spcBef>
              <a:buFont typeface="Arial" panose="020B0604020202020204" pitchFamily="34" charset="0"/>
              <a:buChar char="•"/>
              <a:defRPr sz="950">
                <a:solidFill>
                  <a:srgbClr val="3C3C41"/>
                </a:solidFill>
                <a:latin typeface="Mulish"/>
              </a:defRPr>
            </a:pPr>
            <a:r>
              <a:rPr lang="en-US" sz="1100" b="1" dirty="0"/>
              <a:t>Latency Benchmark: </a:t>
            </a:r>
            <a:r>
              <a:rPr lang="en-US" sz="1100" dirty="0"/>
              <a:t>Confirmed solver convergence and constraint feasibility under 50ms across multi-channel campaign feeds.   </a:t>
            </a:r>
            <a:r>
              <a:rPr lang="en-US" sz="1100" b="1" dirty="0"/>
              <a:t>Edge-Case Stress Tests: </a:t>
            </a:r>
            <a:r>
              <a:rPr lang="en-US" sz="1100" dirty="0"/>
              <a:t>Successfully validated on viral stockout throttling and margin-arbitrage shifts.  </a:t>
            </a:r>
          </a:p>
          <a:p>
            <a:pPr marL="171450" indent="-171450" algn="just">
              <a:spcBef>
                <a:spcPts val="300"/>
              </a:spcBef>
              <a:buFont typeface="Arial" panose="020B0604020202020204" pitchFamily="34" charset="0"/>
              <a:buChar char="•"/>
              <a:defRPr sz="950">
                <a:solidFill>
                  <a:srgbClr val="3C3C41"/>
                </a:solidFill>
                <a:latin typeface="Mulish"/>
              </a:defRPr>
            </a:pPr>
            <a:r>
              <a:rPr lang="en-US" sz="1100" b="1" dirty="0"/>
              <a:t>Counterfactual Verification: </a:t>
            </a:r>
            <a:r>
              <a:rPr lang="en-US" sz="1100" dirty="0"/>
              <a:t>Modeled projected 7-day net profit lift against status-quo baselines.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F345413-83E8-21A8-A139-C63EF1357A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3" t="10095" b="13792"/>
          <a:stretch>
            <a:fillRect/>
          </a:stretch>
        </p:blipFill>
        <p:spPr>
          <a:xfrm>
            <a:off x="1897380" y="1645527"/>
            <a:ext cx="9043416" cy="26516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38404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53334"/>
                </a:solidFill>
                <a:latin typeface="Mulish"/>
              </a:defRPr>
            </a:pPr>
            <a:r>
              <a:t>DATAQUEST 3.0  ·  ROUND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FD1485"/>
                </a:solidFill>
                <a:latin typeface="Fjalla One"/>
              </a:rPr>
              <a:t>05  </a:t>
            </a:r>
            <a:r>
              <a:rPr sz="3200" b="1">
                <a:solidFill>
                  <a:srgbClr val="353334"/>
                </a:solidFill>
                <a:latin typeface="Fjalla One"/>
              </a:rPr>
              <a:t>Feasibility &amp; Scope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682496" y="1815188"/>
            <a:ext cx="4626864" cy="2331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958187" y="1726593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01 · BOUNDARIES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029505"/>
            <a:ext cx="4023360" cy="190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300" b="1">
                <a:solidFill>
                  <a:srgbClr val="353334"/>
                </a:solidFill>
                <a:latin typeface="Fjalla One"/>
              </a:defRPr>
            </a:pPr>
            <a:r>
              <a:rPr dirty="0"/>
              <a:t>1. SCOPE</a:t>
            </a:r>
          </a:p>
          <a:p>
            <a:pPr algn="just">
              <a:spcBef>
                <a:spcPts val="400"/>
              </a:spcBef>
              <a:defRPr sz="1000">
                <a:solidFill>
                  <a:srgbClr val="3C3C41"/>
                </a:solidFill>
                <a:latin typeface="Mulish"/>
              </a:defRPr>
            </a:pPr>
            <a:r>
              <a:rPr sz="1400" b="1" dirty="0"/>
              <a:t>In:</a:t>
            </a:r>
            <a:r>
              <a:rPr lang="en-US" sz="1400" b="1" dirty="0"/>
              <a:t> </a:t>
            </a:r>
            <a:r>
              <a:rPr lang="en-IN" sz="1400" dirty="0"/>
              <a:t>Full multi-source data sync (Meta, Google, Shopify, ERP); causal root-cause anomaly detection (Z&lt;−1.5</a:t>
            </a:r>
            <a:r>
              <a:rPr lang="el-GR" sz="1400" dirty="0"/>
              <a:t>σ); </a:t>
            </a:r>
            <a:r>
              <a:rPr lang="en-IN" sz="1400" dirty="0"/>
              <a:t>SciPy SLSQP convex budget optimization; 1-click counterfactual simulation.</a:t>
            </a:r>
          </a:p>
          <a:p>
            <a:pPr algn="just">
              <a:spcBef>
                <a:spcPts val="400"/>
              </a:spcBef>
              <a:defRPr sz="1000">
                <a:solidFill>
                  <a:srgbClr val="3C3C41"/>
                </a:solidFill>
                <a:latin typeface="Mulish"/>
              </a:defRPr>
            </a:pPr>
            <a:r>
              <a:rPr sz="1400" b="1" dirty="0"/>
              <a:t>Out: </a:t>
            </a:r>
            <a:r>
              <a:rPr lang="en-US" sz="1400" dirty="0"/>
              <a:t>Live write-backs to production credit-card ad accounts (using safe sandboxed simulation for Round 1).</a:t>
            </a:r>
            <a:endParaRPr sz="1400" dirty="0"/>
          </a:p>
        </p:txBody>
      </p:sp>
      <p:sp>
        <p:nvSpPr>
          <p:cNvPr id="27" name="Rounded Rectangle 26"/>
          <p:cNvSpPr/>
          <p:nvPr/>
        </p:nvSpPr>
        <p:spPr>
          <a:xfrm>
            <a:off x="6446520" y="1815084"/>
            <a:ext cx="4617720" cy="235031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812280" y="1740609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53334"/>
                </a:solidFill>
                <a:latin typeface="Mulish"/>
              </a:defRPr>
            </a:pPr>
            <a:r>
              <a:rPr dirty="0"/>
              <a:t>02 · ECONOMICS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211017"/>
            <a:ext cx="402336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300" b="1">
                <a:solidFill>
                  <a:srgbClr val="353334"/>
                </a:solidFill>
                <a:latin typeface="Fjalla One"/>
              </a:defRPr>
            </a:pPr>
            <a:r>
              <a:rPr dirty="0"/>
              <a:t>2. RUNNING COST</a:t>
            </a:r>
          </a:p>
          <a:p>
            <a:pPr algn="just">
              <a:spcBef>
                <a:spcPts val="400"/>
              </a:spcBef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IN" sz="1400" b="1" dirty="0"/>
              <a:t>Cloud Infrastructure: </a:t>
            </a:r>
            <a:r>
              <a:rPr lang="en-IN" sz="1400" dirty="0"/>
              <a:t>~$40–$70/</a:t>
            </a:r>
            <a:r>
              <a:rPr lang="en-IN" sz="1400" dirty="0" err="1"/>
              <a:t>mo</a:t>
            </a:r>
            <a:r>
              <a:rPr lang="en-IN" sz="1400" dirty="0"/>
              <a:t> (AWS/Render container hosting + managed PostgreSQL database).</a:t>
            </a:r>
          </a:p>
          <a:p>
            <a:pPr algn="just">
              <a:spcBef>
                <a:spcPts val="400"/>
              </a:spcBef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IN" sz="1400" b="1" dirty="0"/>
              <a:t>AI API Inference: </a:t>
            </a:r>
            <a:r>
              <a:rPr lang="en-IN" sz="1400" dirty="0"/>
              <a:t>~$15–$30/</a:t>
            </a:r>
            <a:r>
              <a:rPr lang="en-IN" sz="1400" dirty="0" err="1"/>
              <a:t>mo</a:t>
            </a:r>
            <a:r>
              <a:rPr lang="en-IN" sz="1400" dirty="0"/>
              <a:t> (Pay-as-you-go Gemini Flash structured token usage for text translation).</a:t>
            </a:r>
          </a:p>
          <a:p>
            <a:pPr algn="just">
              <a:spcBef>
                <a:spcPts val="400"/>
              </a:spcBef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IN" sz="1400" b="1" dirty="0"/>
              <a:t>Total Run Rate: </a:t>
            </a:r>
            <a:r>
              <a:rPr lang="en-IN" sz="1400" dirty="0"/>
              <a:t>~$55–$100/month total operating expenditure per active brand.</a:t>
            </a:r>
            <a:endParaRPr sz="1400" dirty="0"/>
          </a:p>
        </p:txBody>
      </p:sp>
      <p:sp>
        <p:nvSpPr>
          <p:cNvPr id="30" name="Rounded Rectangle 29"/>
          <p:cNvSpPr/>
          <p:nvPr/>
        </p:nvSpPr>
        <p:spPr>
          <a:xfrm>
            <a:off x="1645920" y="4389120"/>
            <a:ext cx="4572000" cy="2357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965960" y="42611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03 · CONTINGENCY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08150" y="4503063"/>
            <a:ext cx="402336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53334"/>
                </a:solidFill>
                <a:latin typeface="Fjalla One"/>
              </a:defRPr>
            </a:pPr>
            <a:r>
              <a:rPr sz="1400" dirty="0"/>
              <a:t>3. RISKS &amp; FALLBACK</a:t>
            </a:r>
          </a:p>
          <a:p>
            <a:pPr algn="just">
              <a:spcBef>
                <a:spcPts val="400"/>
              </a:spcBef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IN" sz="1400" b="1" dirty="0"/>
              <a:t>API Rate Limit / AI Lag: </a:t>
            </a:r>
            <a:r>
              <a:rPr lang="en-IN" sz="1400" dirty="0"/>
              <a:t>Instant failover to static pre-compiled text templates; zero impact on solver speed.</a:t>
            </a:r>
          </a:p>
          <a:p>
            <a:pPr algn="just">
              <a:spcBef>
                <a:spcPts val="400"/>
              </a:spcBef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IN" sz="1400" b="1" dirty="0"/>
              <a:t>Solver Non-Convergence:</a:t>
            </a:r>
            <a:r>
              <a:rPr lang="en-IN" sz="1400" dirty="0"/>
              <a:t> Bounded fallback to heuristic gradient clamping to guarantee sub-100ms response times.</a:t>
            </a:r>
          </a:p>
          <a:p>
            <a:pPr algn="just">
              <a:spcBef>
                <a:spcPts val="400"/>
              </a:spcBef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IN" sz="1400" b="1" dirty="0"/>
              <a:t>Missing ERP Data:</a:t>
            </a:r>
            <a:r>
              <a:rPr lang="en-IN" sz="1400" dirty="0"/>
              <a:t> Automatic imputation of historical velocity with a strict 14 day  safety buffer.</a:t>
            </a:r>
            <a:endParaRPr sz="1400" dirty="0"/>
          </a:p>
        </p:txBody>
      </p:sp>
      <p:sp>
        <p:nvSpPr>
          <p:cNvPr id="33" name="Rounded Rectangle 32"/>
          <p:cNvSpPr/>
          <p:nvPr/>
        </p:nvSpPr>
        <p:spPr>
          <a:xfrm>
            <a:off x="6400800" y="4389120"/>
            <a:ext cx="4663440" cy="2357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812280" y="42611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353334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04 · HORIZON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645152"/>
            <a:ext cx="4023360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300" b="1">
                <a:solidFill>
                  <a:srgbClr val="353334"/>
                </a:solidFill>
                <a:latin typeface="Fjalla One"/>
              </a:defRPr>
            </a:pPr>
            <a:r>
              <a:rPr sz="1400" dirty="0"/>
              <a:t>4. AFTER THE HACKATHON</a:t>
            </a:r>
          </a:p>
          <a:p>
            <a:pPr algn="just">
              <a:spcBef>
                <a:spcPts val="400"/>
              </a:spcBef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sz="1400" b="1" dirty="0"/>
              <a:t>Phase 1 (Next 30 Days): </a:t>
            </a:r>
            <a:r>
              <a:rPr lang="en-US" sz="1400" dirty="0"/>
              <a:t>Official Meta Marketing API and Shopify OAuth production integration.</a:t>
            </a:r>
          </a:p>
          <a:p>
            <a:pPr algn="just">
              <a:spcBef>
                <a:spcPts val="400"/>
              </a:spcBef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US" sz="1400" b="1" dirty="0"/>
              <a:t>Phase 2 (Next 90 Days): </a:t>
            </a:r>
            <a:r>
              <a:rPr lang="en-US" sz="1400" dirty="0"/>
              <a:t>Multi-tenant agency dashboard supporting concurrent brand portfolios.</a:t>
            </a:r>
            <a:endParaRPr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38404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53334"/>
                </a:solidFill>
                <a:latin typeface="Mulish"/>
              </a:defRPr>
            </a:pPr>
            <a:r>
              <a:t>DATAQUEST 3.0  ·  ROUND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FD1485"/>
                </a:solidFill>
                <a:latin typeface="Fjalla One"/>
              </a:rPr>
              <a:t>06  </a:t>
            </a:r>
            <a:r>
              <a:rPr sz="3200" b="1">
                <a:solidFill>
                  <a:srgbClr val="353334"/>
                </a:solidFill>
                <a:latin typeface="Fjalla One"/>
              </a:rPr>
              <a:t>Impact &amp; Metrics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636776" y="1606296"/>
            <a:ext cx="9417865" cy="211192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968500" y="1536192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rPr dirty="0"/>
              <a:t>PRIMARY METRIC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1912112"/>
            <a:ext cx="4114800" cy="154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D1485"/>
                </a:solidFill>
                <a:latin typeface="Fjalla One"/>
              </a:defRPr>
            </a:pPr>
            <a:r>
              <a:rPr sz="3200" dirty="0"/>
              <a:t>[ </a:t>
            </a:r>
            <a:r>
              <a:rPr lang="en-IN" sz="3200" dirty="0"/>
              <a:t>2.4</a:t>
            </a:r>
            <a:r>
              <a:rPr sz="3200" dirty="0"/>
              <a:t>% ]</a:t>
            </a:r>
          </a:p>
          <a:p>
            <a:pPr algn="just">
              <a:lnSpc>
                <a:spcPct val="150000"/>
              </a:lnSpc>
              <a:spcBef>
                <a:spcPts val="200"/>
              </a:spcBef>
              <a:defRPr sz="1200" b="1">
                <a:solidFill>
                  <a:srgbClr val="353334"/>
                </a:solidFill>
                <a:latin typeface="Fjalla One"/>
              </a:defRPr>
            </a:pPr>
            <a:r>
              <a:rPr lang="en-US" sz="1400" dirty="0"/>
              <a:t>Projected Net Profit Lift : Maximizes bottom line profit by shifting ad spend from low stock items to high margin products.</a:t>
            </a:r>
            <a:endParaRPr sz="1400" dirty="0"/>
          </a:p>
        </p:txBody>
      </p:sp>
      <p:sp>
        <p:nvSpPr>
          <p:cNvPr id="27" name="TextBox 26"/>
          <p:cNvSpPr txBox="1"/>
          <p:nvPr/>
        </p:nvSpPr>
        <p:spPr>
          <a:xfrm>
            <a:off x="6217920" y="1751076"/>
            <a:ext cx="4572000" cy="167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53334"/>
                </a:solidFill>
                <a:latin typeface="Fjalla One"/>
              </a:defRPr>
            </a:pPr>
            <a:r>
              <a:rPr sz="1400" dirty="0"/>
              <a:t>HOW IT WAS MEASURED</a:t>
            </a:r>
          </a:p>
          <a:p>
            <a:pPr marL="285750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IN" sz="1400" dirty="0"/>
              <a:t>Simulation Testing: Benchmarked our SciPy convex solver against standard ad spend across test data vectors.</a:t>
            </a:r>
          </a:p>
          <a:p>
            <a:pPr marL="285750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 sz="1000">
                <a:solidFill>
                  <a:srgbClr val="3C3C41"/>
                </a:solidFill>
                <a:latin typeface="Mulish"/>
              </a:defRPr>
            </a:pPr>
            <a:r>
              <a:rPr lang="en-IN" sz="1400" dirty="0"/>
              <a:t>Objective Function: Validated via (${Revenue} \times {Margin} - {Spend}$), proving a projected 2.4× efficiency gain.</a:t>
            </a:r>
            <a:endParaRPr sz="1400" dirty="0"/>
          </a:p>
        </p:txBody>
      </p:sp>
      <p:sp>
        <p:nvSpPr>
          <p:cNvPr id="28" name="Rounded Rectangle 27"/>
          <p:cNvSpPr/>
          <p:nvPr/>
        </p:nvSpPr>
        <p:spPr>
          <a:xfrm>
            <a:off x="1645985" y="3977640"/>
            <a:ext cx="2971800" cy="24231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966025" y="384962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IMPACT 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9364" y="4114800"/>
            <a:ext cx="26060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lang="en-IN" sz="1600" dirty="0"/>
              <a:t>WHAT IMPROVES</a:t>
            </a:r>
          </a:p>
          <a:p>
            <a:pPr>
              <a:defRPr sz="1100" b="1">
                <a:solidFill>
                  <a:srgbClr val="353334"/>
                </a:solidFill>
                <a:latin typeface="Fjalla One"/>
              </a:defRPr>
            </a:pPr>
            <a:endParaRPr lang="en-IN" sz="1600" dirty="0"/>
          </a:p>
          <a:p>
            <a:pPr algn="just"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lang="en-US" sz="1600" dirty="0"/>
              <a:t>Before : Ad budget burns on unfulfilled or low margin items.</a:t>
            </a:r>
          </a:p>
          <a:p>
            <a:pPr algn="just">
              <a:defRPr sz="1100" b="1">
                <a:solidFill>
                  <a:srgbClr val="353334"/>
                </a:solidFill>
                <a:latin typeface="Fjalla One"/>
              </a:defRPr>
            </a:pPr>
            <a:endParaRPr lang="en-US" sz="1600" dirty="0"/>
          </a:p>
          <a:p>
            <a:pPr algn="just"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lang="en-US" sz="1600" dirty="0"/>
              <a:t>After : Automated budget shifting stops ad waste instantly</a:t>
            </a:r>
            <a:endParaRPr sz="1600" dirty="0"/>
          </a:p>
        </p:txBody>
      </p:sp>
      <p:sp>
        <p:nvSpPr>
          <p:cNvPr id="31" name="Rounded Rectangle 30"/>
          <p:cNvSpPr/>
          <p:nvPr/>
        </p:nvSpPr>
        <p:spPr>
          <a:xfrm>
            <a:off x="4864608" y="4114800"/>
            <a:ext cx="2971800" cy="24231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184648" y="39867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53334"/>
                </a:solidFill>
                <a:latin typeface="Mulish"/>
              </a:defRPr>
            </a:pPr>
            <a:r>
              <a:t>IMPACT 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4343400"/>
            <a:ext cx="260604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lang="en-IN" sz="1400" dirty="0"/>
              <a:t>WHO ELSE BENEFITS</a:t>
            </a:r>
          </a:p>
          <a:p>
            <a:pPr>
              <a:defRPr sz="1100" b="1">
                <a:solidFill>
                  <a:srgbClr val="353334"/>
                </a:solidFill>
                <a:latin typeface="Fjalla One"/>
              </a:defRPr>
            </a:pPr>
            <a:endParaRPr lang="en-IN" sz="1400" dirty="0"/>
          </a:p>
          <a:p>
            <a:pPr algn="just"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lang="en-US" sz="1400" dirty="0"/>
              <a:t>Founders &amp; Agencies :  Saves hours of manual spreadsheet tracking.</a:t>
            </a:r>
          </a:p>
          <a:p>
            <a:pPr algn="just">
              <a:defRPr sz="1100" b="1">
                <a:solidFill>
                  <a:srgbClr val="353334"/>
                </a:solidFill>
                <a:latin typeface="Fjalla One"/>
              </a:defRPr>
            </a:pPr>
            <a:endParaRPr lang="en-US" sz="1400" dirty="0"/>
          </a:p>
          <a:p>
            <a:pPr algn="just"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lang="en-US" sz="1400" dirty="0"/>
              <a:t>Supply Chain :  Prevents sudden inventory stockouts.</a:t>
            </a:r>
            <a:endParaRPr sz="1400" dirty="0"/>
          </a:p>
        </p:txBody>
      </p:sp>
      <p:sp>
        <p:nvSpPr>
          <p:cNvPr id="34" name="Rounded Rectangle 33"/>
          <p:cNvSpPr/>
          <p:nvPr/>
        </p:nvSpPr>
        <p:spPr>
          <a:xfrm>
            <a:off x="8083296" y="4114800"/>
            <a:ext cx="2971800" cy="24231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403336" y="398678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353334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IMPACT 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6" y="4343400"/>
            <a:ext cx="260604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sz="1400" dirty="0"/>
              <a:t>RISKS / MISUSE</a:t>
            </a:r>
            <a:endParaRPr lang="en-IN" sz="1400" dirty="0"/>
          </a:p>
          <a:p>
            <a:pPr algn="just"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lang="en-US" sz="1600" dirty="0"/>
              <a:t>Risk : Automated shifts ignoring seasonal trends.</a:t>
            </a:r>
          </a:p>
          <a:p>
            <a:pPr algn="just">
              <a:defRPr sz="1100" b="1">
                <a:solidFill>
                  <a:srgbClr val="353334"/>
                </a:solidFill>
                <a:latin typeface="Fjalla One"/>
              </a:defRPr>
            </a:pPr>
            <a:endParaRPr lang="en-US" sz="1600" dirty="0"/>
          </a:p>
          <a:p>
            <a:pPr algn="just">
              <a:defRPr sz="1100" b="1">
                <a:solidFill>
                  <a:srgbClr val="353334"/>
                </a:solidFill>
                <a:latin typeface="Fjalla One"/>
              </a:defRPr>
            </a:pPr>
            <a:r>
              <a:rPr lang="en-US" sz="1600" dirty="0"/>
              <a:t>Mitigation : Built in hard guardrails and 1 click human approval.</a:t>
            </a:r>
            <a:endParaRPr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82880" y="1051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82880" y="145389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-18288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5486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1440" y="7132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1440" y="8778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21440" y="10424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219456" cy="164592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5742432"/>
            <a:ext cx="219456" cy="164592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907024"/>
            <a:ext cx="219456" cy="164592"/>
          </a:xfrm>
          <a:prstGeom prst="rect">
            <a:avLst/>
          </a:prstGeom>
          <a:solidFill>
            <a:srgbClr val="FD1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071616"/>
            <a:ext cx="219456" cy="164592"/>
          </a:xfrm>
          <a:prstGeom prst="rect">
            <a:avLst/>
          </a:prstGeom>
          <a:solidFill>
            <a:srgbClr val="079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87100" y="5934075"/>
            <a:ext cx="32004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237595" y="5783580"/>
            <a:ext cx="19050" cy="32004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192256" y="5888736"/>
            <a:ext cx="109728" cy="109728"/>
          </a:xfrm>
          <a:prstGeom prst="rect">
            <a:avLst/>
          </a:prstGeom>
          <a:solidFill>
            <a:srgbClr val="FFB9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8412480" y="640080"/>
            <a:ext cx="1005840" cy="822960"/>
          </a:xfrm>
          <a:prstGeom prst="arc">
            <a:avLst/>
          </a:prstGeom>
          <a:noFill/>
          <a:ln w="19050">
            <a:solidFill>
              <a:srgbClr val="079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1332" y="101041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7172" y="598932"/>
            <a:ext cx="82296" cy="82296"/>
          </a:xfrm>
          <a:prstGeom prst="rect">
            <a:avLst/>
          </a:prstGeom>
          <a:solidFill>
            <a:srgbClr val="FFFFFF"/>
          </a:solidFill>
          <a:ln w="17780">
            <a:solidFill>
              <a:srgbClr val="FD1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38404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53334"/>
                </a:solidFill>
                <a:latin typeface="Mulish"/>
              </a:defRPr>
            </a:pPr>
            <a:r>
              <a:t>DATAQUEST 3.0  ·  ROUND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21792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FD1485"/>
                </a:solidFill>
                <a:latin typeface="Fjalla One"/>
              </a:rPr>
              <a:t>07  </a:t>
            </a:r>
            <a:r>
              <a:rPr sz="3200" b="1">
                <a:solidFill>
                  <a:srgbClr val="353334"/>
                </a:solidFill>
                <a:latin typeface="Fjalla One"/>
              </a:rPr>
              <a:t>Why This Project?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1444752"/>
            <a:ext cx="9418320" cy="19050"/>
          </a:xfrm>
          <a:prstGeom prst="rect">
            <a:avLst/>
          </a:prstGeom>
          <a:solidFill>
            <a:srgbClr val="353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701800" y="1722699"/>
            <a:ext cx="4653280" cy="289255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965960" y="1574800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353334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STATUS QUO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18640" y="1961967"/>
            <a:ext cx="4419600" cy="2208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53334"/>
                </a:solidFill>
                <a:latin typeface="Fjalla One"/>
              </a:defRPr>
            </a:pPr>
            <a:r>
              <a:rPr dirty="0"/>
              <a:t>CURRENT APPROACH</a:t>
            </a:r>
            <a:endParaRPr lang="en-IN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400" b="1">
                <a:solidFill>
                  <a:srgbClr val="353334"/>
                </a:solidFill>
                <a:latin typeface="Fjalla One"/>
              </a:defRPr>
            </a:pPr>
            <a:r>
              <a:rPr lang="en-US" dirty="0"/>
              <a:t>Fragmented Tooling: Marketers manage campaigns in isolated silos (Meta, Google) while live inventory data sits separately in Shopify or ERP spreadsheets.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400" b="1">
                <a:solidFill>
                  <a:srgbClr val="353334"/>
                </a:solidFill>
                <a:latin typeface="Fjalla One"/>
              </a:defRPr>
            </a:pPr>
            <a:r>
              <a:rPr lang="en-US" dirty="0"/>
              <a:t>Reactive Ad Burn: Manual spreadsheet tracking causes delayed reactions, wasting thousands of dollars driving traffic to products that suddenly stock out.</a:t>
            </a:r>
            <a:endParaRPr dirty="0"/>
          </a:p>
        </p:txBody>
      </p:sp>
      <p:sp>
        <p:nvSpPr>
          <p:cNvPr id="27" name="Rounded Rectangle 26"/>
          <p:cNvSpPr/>
          <p:nvPr/>
        </p:nvSpPr>
        <p:spPr>
          <a:xfrm>
            <a:off x="6502400" y="1752163"/>
            <a:ext cx="4653280" cy="287350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812280" y="1574800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79ED2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t>OUR SOLUTION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1300" y="1909830"/>
            <a:ext cx="4257040" cy="263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 sz="1400" b="1">
                <a:solidFill>
                  <a:srgbClr val="353334"/>
                </a:solidFill>
                <a:latin typeface="Fjalla One"/>
              </a:defRPr>
            </a:pPr>
            <a:r>
              <a:rPr dirty="0"/>
              <a:t>OUR APPROACH</a:t>
            </a:r>
            <a:endParaRPr lang="en-IN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400" b="1">
                <a:solidFill>
                  <a:srgbClr val="353334"/>
                </a:solidFill>
                <a:latin typeface="Fjalla One"/>
              </a:defRPr>
            </a:pPr>
            <a:r>
              <a:rPr lang="en-US" dirty="0"/>
              <a:t>Unified Closed Loop Engine: Automatically bridges real time marketing performance and warehouse inventory levels into a single, cohesive command center.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400" b="1">
                <a:solidFill>
                  <a:srgbClr val="353334"/>
                </a:solidFill>
                <a:latin typeface="Fjalla One"/>
              </a:defRPr>
            </a:pPr>
            <a:r>
              <a:rPr lang="en-US" dirty="0"/>
              <a:t>Mathematical Precision: Replaces manual guesswork with SciPy convex optimization to dynamically shift budgets for peak net profit while protecting stock safety buffers.</a:t>
            </a:r>
            <a:endParaRPr dirty="0"/>
          </a:p>
        </p:txBody>
      </p:sp>
      <p:sp>
        <p:nvSpPr>
          <p:cNvPr id="30" name="Rounded Rectangle 29"/>
          <p:cNvSpPr/>
          <p:nvPr/>
        </p:nvSpPr>
        <p:spPr>
          <a:xfrm>
            <a:off x="1645920" y="4783328"/>
            <a:ext cx="9418320" cy="1645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965960" y="4700016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D1485"/>
          </a:solidFill>
          <a:ln w="15240">
            <a:solidFill>
              <a:srgbClr val="353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ulish"/>
              </a:defRPr>
            </a:pPr>
            <a:r>
              <a:rPr dirty="0"/>
              <a:t>MOAT / DIFFERENTIATION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5064724"/>
            <a:ext cx="8928100" cy="1027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D1485"/>
                </a:solidFill>
                <a:latin typeface="Fjalla One"/>
              </a:defRPr>
            </a:pPr>
            <a:r>
              <a:rPr sz="1600" dirty="0"/>
              <a:t>KEY DIFFERENCE</a:t>
            </a:r>
            <a:endParaRPr lang="en-IN" sz="1600" dirty="0"/>
          </a:p>
          <a:p>
            <a:pPr>
              <a:lnSpc>
                <a:spcPct val="150000"/>
              </a:lnSpc>
              <a:defRPr sz="1200" b="1">
                <a:solidFill>
                  <a:srgbClr val="FD1485"/>
                </a:solidFill>
                <a:latin typeface="Fjalla One"/>
              </a:defRPr>
            </a:pPr>
            <a:r>
              <a:rPr lang="en-US" sz="1600" dirty="0"/>
              <a:t>Deterministic Optimization vs. Hype : Unlike tools that only suggest generic ad copy, we use mathematical optimization to prove financial outcomes and prevent stockouts before a single dollar is spent.</a:t>
            </a:r>
            <a:endParaRPr lang="en-IN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1321</Words>
  <Application>Microsoft Office PowerPoint</Application>
  <PresentationFormat>Widescreen</PresentationFormat>
  <Paragraphs>140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Fjalla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Salai Kamalavassan.S</dc:creator>
  <cp:keywords/>
  <dc:description>generated using python-pptx</dc:description>
  <cp:lastModifiedBy>Salai Kamalavasan.S</cp:lastModifiedBy>
  <cp:revision>10</cp:revision>
  <dcterms:created xsi:type="dcterms:W3CDTF">2013-01-27T09:14:16Z</dcterms:created>
  <dcterms:modified xsi:type="dcterms:W3CDTF">2026-10-07T08:44:36Z</dcterms:modified>
  <cp:category/>
</cp:coreProperties>
</file>